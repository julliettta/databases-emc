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4"/>
  </p:notesMasterIdLst>
  <p:handoutMasterIdLst>
    <p:handoutMasterId r:id="rId15"/>
  </p:handoutMasterIdLst>
  <p:sldIdLst>
    <p:sldId id="265" r:id="rId2"/>
    <p:sldId id="324" r:id="rId3"/>
    <p:sldId id="333" r:id="rId4"/>
    <p:sldId id="284" r:id="rId5"/>
    <p:sldId id="315" r:id="rId6"/>
    <p:sldId id="329" r:id="rId7"/>
    <p:sldId id="327" r:id="rId8"/>
    <p:sldId id="330" r:id="rId9"/>
    <p:sldId id="328" r:id="rId10"/>
    <p:sldId id="331" r:id="rId11"/>
    <p:sldId id="332" r:id="rId12"/>
    <p:sldId id="263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>
        <p:scale>
          <a:sx n="125" d="100"/>
          <a:sy n="125" d="100"/>
        </p:scale>
        <p:origin x="427" y="-5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67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53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01750" y="1860550"/>
            <a:ext cx="6400800" cy="1794825"/>
          </a:xfrm>
        </p:spPr>
        <p:txBody>
          <a:bodyPr>
            <a:no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Лабораторная работа №1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Анализ поведения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информационной системы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АИС «Бюро проката яхт Сан-Хуана» · вариант 1</a:t>
            </a:r>
            <a:br>
              <a:rPr lang="ru-RU" sz="1400" dirty="0">
                <a:solidFill>
                  <a:schemeClr val="bg1"/>
                </a:solidFill>
              </a:rPr>
            </a:br>
            <a:br>
              <a:rPr lang="ru-RU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Цель: Построить функциональную модель АИС бюро проката яхт Сан-Хуана с использованием DFD.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• Определить границы системы, внешние сущности и информационные потоки.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Построить контекстную диаграмму DFD уровня A-0.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Составить список событий, на которые должна реагировать система.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Выполнить декомпозицию A-0 и определить процессы и накопители данных.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Детализировать ключевой процесс «Управление прокатом».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708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Цель и постановка задачи</a:t>
            </a:r>
            <a:br>
              <a:rPr lang="ru-RU" dirty="0"/>
            </a:b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BF70BB-C3B6-4A60-BF51-380AB843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080" y="1112762"/>
            <a:ext cx="1352739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DA05745-511F-4C1E-9079-FF8EB3EA31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3" y="1233715"/>
            <a:ext cx="2102222" cy="3410856"/>
          </a:xfrm>
        </p:spPr>
        <p:txBody>
          <a:bodyPr>
            <a:normAutofit/>
          </a:bodyPr>
          <a:lstStyle/>
          <a:p>
            <a:r>
              <a:rPr lang="ru-RU" sz="1700" dirty="0"/>
              <a:t>Прокат</a:t>
            </a:r>
            <a:br>
              <a:rPr lang="ru-RU" sz="1700" dirty="0"/>
            </a:br>
            <a:br>
              <a:rPr lang="ru-RU" sz="1700" dirty="0"/>
            </a:br>
            <a:r>
              <a:rPr lang="ru-RU" sz="1700" dirty="0"/>
              <a:t>Яхты принадлежат владельцам.</a:t>
            </a:r>
            <a:br>
              <a:rPr lang="ru-RU" sz="1700" dirty="0"/>
            </a:br>
            <a:r>
              <a:rPr lang="ru-RU" sz="1700" dirty="0"/>
              <a:t>Бюро оформляет аренду и возврат, ведёт историю проката.</a:t>
            </a:r>
          </a:p>
          <a:p>
            <a:endParaRPr lang="ru-RU" sz="1700" dirty="0"/>
          </a:p>
          <a:p>
            <a:endParaRPr lang="ru-BY" sz="17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1450515-6230-46C7-929E-B70C9924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Предметная область</a:t>
            </a:r>
            <a:endParaRPr lang="ru-BY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C2820F-2DC6-4111-ABB9-5CD37CC17EB0}"/>
              </a:ext>
            </a:extLst>
          </p:cNvPr>
          <p:cNvSpPr/>
          <p:nvPr/>
        </p:nvSpPr>
        <p:spPr>
          <a:xfrm>
            <a:off x="2999441" y="1233715"/>
            <a:ext cx="2006600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Обслуживание</a:t>
            </a:r>
            <a:br>
              <a:rPr lang="ru-RU" sz="1700" dirty="0"/>
            </a:br>
            <a:br>
              <a:rPr lang="ru-RU" sz="1700" dirty="0"/>
            </a:br>
            <a:r>
              <a:rPr lang="ru-RU" sz="1700" dirty="0"/>
              <a:t>При поломке диспетчер организует ремонт через подходящий ремонтный док.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4A51FA-EBB7-42F1-87F6-6C8DA3C21654}"/>
              </a:ext>
            </a:extLst>
          </p:cNvPr>
          <p:cNvSpPr/>
          <p:nvPr/>
        </p:nvSpPr>
        <p:spPr>
          <a:xfrm>
            <a:off x="5279147" y="1233715"/>
            <a:ext cx="3240740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/>
              <a:t>Учет</a:t>
            </a:r>
            <a:br>
              <a:rPr lang="ru-RU" sz="1700" dirty="0"/>
            </a:br>
            <a:br>
              <a:rPr lang="ru-RU" sz="1700" dirty="0"/>
            </a:br>
            <a:r>
              <a:rPr lang="ru-RU" sz="1700" dirty="0"/>
              <a:t>Система хранит сведения о клиентах, владельцах, яхтах, комплектации, маршрутах, договорах, ремонтах, поставках и расходах.</a:t>
            </a:r>
          </a:p>
          <a:p>
            <a:endParaRPr lang="ru-RU" sz="1700" dirty="0"/>
          </a:p>
          <a:p>
            <a:r>
              <a:rPr lang="ru-RU" sz="1700" dirty="0"/>
              <a:t>При необходимости клиент может заказать капитана или команду.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4B38DC4-175E-4E05-B90B-92CD541A4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2865" y="1143000"/>
            <a:ext cx="564654" cy="44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7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500" b="1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Метод моделирования — </a:t>
            </a:r>
            <a:r>
              <a:rPr lang="en-US" dirty="0"/>
              <a:t>DFD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900" b="1">
                <a:solidFill>
                  <a:srgbClr val="141414"/>
                </a:solidFill>
                <a:latin typeface="Arial"/>
              </a:defRPr>
            </a:pPr>
            <a:r>
              <a:rPr lang="ru-RU" sz="1900" dirty="0"/>
              <a:t>DFD показывает движение данных между внешними сущностями, процессами и накопителями.</a:t>
            </a:r>
          </a:p>
          <a:p>
            <a:endParaRPr lang="ru-RU" sz="1800" dirty="0">
              <a:latin typeface="Golos Text" panose="020B0503020202020204"/>
            </a:endParaRPr>
          </a:p>
          <a:p>
            <a:r>
              <a:rPr lang="ru-RU" sz="1800" dirty="0"/>
              <a:t>Внешняя сущность - источник или получатель данных</a:t>
            </a:r>
          </a:p>
          <a:p>
            <a:endParaRPr lang="ru-RU" sz="1800" dirty="0"/>
          </a:p>
          <a:p>
            <a:r>
              <a:rPr lang="ru-RU" sz="1800" dirty="0"/>
              <a:t>Процесс - преобразует входные данные в выходные</a:t>
            </a:r>
          </a:p>
          <a:p>
            <a:endParaRPr lang="ru-RU" sz="1800" dirty="0">
              <a:latin typeface="Golos Text" panose="020B0503020202020204"/>
            </a:endParaRPr>
          </a:p>
          <a:p>
            <a:r>
              <a:rPr lang="ru-RU" sz="1800" dirty="0"/>
              <a:t>Накопитель - хранит данные информационной системы</a:t>
            </a:r>
          </a:p>
          <a:p>
            <a:endParaRPr lang="ru-RU" sz="1800" dirty="0">
              <a:latin typeface="Golos Text" panose="020B0503020202020204"/>
            </a:endParaRPr>
          </a:p>
          <a:p>
            <a:r>
              <a:rPr lang="ru-RU" sz="1800" dirty="0"/>
              <a:t>Поток данных - показывает передачу конкретной информации</a:t>
            </a:r>
          </a:p>
          <a:p>
            <a:endParaRPr lang="ru-RU" sz="1600" dirty="0"/>
          </a:p>
          <a:p>
            <a:r>
              <a:rPr lang="ru-RU" sz="1600" dirty="0">
                <a:latin typeface="Golos Text" panose="020B0503020202020204"/>
              </a:rPr>
              <a:t> </a:t>
            </a:r>
          </a:p>
          <a:p>
            <a:endParaRPr lang="ru-RU" sz="1600" dirty="0">
              <a:latin typeface="Golos Text" panose="020B05030202020202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EA90CC-B3BD-4BD9-B01F-5F4845F7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061" y="1173843"/>
            <a:ext cx="1352739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9935"/>
            <a:ext cx="6291943" cy="527284"/>
          </a:xfrm>
        </p:spPr>
        <p:txBody>
          <a:bodyPr>
            <a:normAutofit fontScale="90000"/>
          </a:bodyPr>
          <a:lstStyle/>
          <a:p>
            <a:r>
              <a:rPr lang="en-US" dirty="0"/>
              <a:t>DFD </a:t>
            </a:r>
            <a:r>
              <a:rPr lang="ru-RU" dirty="0"/>
              <a:t>уровня </a:t>
            </a:r>
            <a:r>
              <a:rPr lang="en-US" dirty="0"/>
              <a:t>A-0</a:t>
            </a:r>
            <a:br>
              <a:rPr lang="en-US" dirty="0"/>
            </a:b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08750" y="1267964"/>
            <a:ext cx="2234293" cy="3875536"/>
          </a:xfrm>
        </p:spPr>
        <p:txBody>
          <a:bodyPr>
            <a:normAutofit/>
          </a:bodyPr>
          <a:lstStyle/>
          <a:p>
            <a:r>
              <a:rPr lang="ru-RU" dirty="0"/>
              <a:t>Уровень 0 (A-0) — контекстная диаграмма.</a:t>
            </a:r>
          </a:p>
          <a:p>
            <a:endParaRPr lang="ru-RU" dirty="0"/>
          </a:p>
          <a:p>
            <a:r>
              <a:rPr lang="ru-RU" dirty="0"/>
              <a:t>Показывает АИС как единый процесс и её взаимодействие с внешними сущностями: клиентом, владельцем яхты, персоналом, диспетчером, ремонтным доком, поставщиком и сотрудниками бюро.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9C8888-096B-4DF2-8441-C9E041573A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223005-8464-44A7-B1A7-48A0515F2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23900"/>
            <a:ext cx="587594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7120"/>
            <a:ext cx="6824382" cy="527284"/>
          </a:xfrm>
        </p:spPr>
        <p:txBody>
          <a:bodyPr>
            <a:normAutofit fontScale="90000"/>
          </a:bodyPr>
          <a:lstStyle/>
          <a:p>
            <a:pPr>
              <a:defRPr sz="2500" b="1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Список событий</a:t>
            </a:r>
            <a:br>
              <a:rPr lang="ru-RU" dirty="0"/>
            </a:br>
            <a:r>
              <a:rPr lang="ru-RU" sz="1200" b="0" dirty="0"/>
              <a:t>Основные события, на которые реагирует АИС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9973A03-4B0D-4857-BA81-FEF4B4CD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1491343"/>
            <a:ext cx="8130304" cy="301715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F72881-F3C7-4ECE-A414-C4302A3D6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81" y="1111250"/>
            <a:ext cx="676370" cy="32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0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9935"/>
            <a:ext cx="6291943" cy="527284"/>
          </a:xfrm>
        </p:spPr>
        <p:txBody>
          <a:bodyPr>
            <a:normAutofit/>
          </a:bodyPr>
          <a:lstStyle/>
          <a:p>
            <a:pPr>
              <a:defRPr sz="2500" b="1">
                <a:solidFill>
                  <a:srgbClr val="141414"/>
                </a:solidFill>
                <a:latin typeface="Arial"/>
              </a:defRPr>
            </a:pPr>
            <a:r>
              <a:rPr lang="en-US" dirty="0"/>
              <a:t>DFD </a:t>
            </a:r>
            <a:r>
              <a:rPr lang="ru-RU" dirty="0"/>
              <a:t>уровня </a:t>
            </a:r>
            <a:r>
              <a:rPr lang="en-US" dirty="0"/>
              <a:t>A0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714E1D-5F46-45A1-BF58-345A77D1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" y="984250"/>
            <a:ext cx="8688007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7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500" b="1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Структура уровня </a:t>
            </a:r>
            <a:r>
              <a:rPr lang="en-US" dirty="0"/>
              <a:t>A0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BC76DC7-DBAF-4116-BDC5-E17C885AB0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800"/>
              <a:t>1.0 УЧЁТ ЯХТ И ИНВЕНТАРЯ</a:t>
            </a:r>
          </a:p>
          <a:p>
            <a:r>
              <a:rPr lang="ru-RU" sz="1800" dirty="0"/>
              <a:t>Яхты, владельцы, комплектация и инвентарь.</a:t>
            </a:r>
          </a:p>
          <a:p>
            <a:endParaRPr lang="ru-RU" sz="1800" dirty="0"/>
          </a:p>
          <a:p>
            <a:r>
              <a:rPr lang="ru-RU" sz="1800" dirty="0"/>
              <a:t>2.0 УПРАВЛЕНИЕ ПРОКАТОМ</a:t>
            </a:r>
          </a:p>
          <a:p>
            <a:r>
              <a:rPr lang="ru-RU" sz="1800" dirty="0"/>
              <a:t>Клиент, доступность яхты, маршрут, экипаж, стоимость, договор, выдача и возврат.</a:t>
            </a:r>
          </a:p>
          <a:p>
            <a:endParaRPr lang="ru-RU" sz="1800" dirty="0"/>
          </a:p>
          <a:p>
            <a:r>
              <a:rPr lang="ru-RU" sz="1800" dirty="0"/>
              <a:t>3.0 ОБСЛУЖИВАНИЕ И РЕМОНТ</a:t>
            </a:r>
          </a:p>
          <a:p>
            <a:r>
              <a:rPr lang="ru-RU" sz="1800" dirty="0"/>
              <a:t>Неисправности, заявки на ремонт, диспетчер и ремонтный док.</a:t>
            </a:r>
          </a:p>
          <a:p>
            <a:endParaRPr lang="ru-RU" sz="1800" dirty="0"/>
          </a:p>
          <a:p>
            <a:r>
              <a:rPr lang="ru-RU" sz="1800" dirty="0"/>
              <a:t>4.0 УПРАВЛЕНИЕ ПОСТАВКАМИ</a:t>
            </a:r>
          </a:p>
          <a:p>
            <a:r>
              <a:rPr lang="ru-RU" sz="1800" dirty="0"/>
              <a:t>Материалы, оборудование, поставки, чеки и расходы.</a:t>
            </a:r>
          </a:p>
          <a:p>
            <a:endParaRPr lang="ru-BY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CE2FE5-9187-420F-98CC-9FAFEDC1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461" y="1157212"/>
            <a:ext cx="1352739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92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616439-50CF-40B9-B738-032951747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" y="964932"/>
            <a:ext cx="7217666" cy="4045218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293735"/>
            <a:ext cx="6291943" cy="527284"/>
          </a:xfrm>
        </p:spPr>
        <p:txBody>
          <a:bodyPr>
            <a:normAutofit fontScale="90000"/>
          </a:bodyPr>
          <a:lstStyle/>
          <a:p>
            <a:pPr>
              <a:defRPr sz="2500" b="1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Детализация процесса «Управление прокатом»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67550" y="1083814"/>
            <a:ext cx="2152650" cy="3875536"/>
          </a:xfrm>
        </p:spPr>
        <p:txBody>
          <a:bodyPr>
            <a:normAutofit/>
          </a:bodyPr>
          <a:lstStyle/>
          <a:p>
            <a:endParaRPr lang="ru-RU" dirty="0"/>
          </a:p>
          <a:p>
            <a:r>
              <a:rPr lang="ru-RU" dirty="0"/>
              <a:t>Детализация процесса «Управление прокатом».</a:t>
            </a:r>
          </a:p>
          <a:p>
            <a:endParaRPr lang="ru-RU" dirty="0"/>
          </a:p>
          <a:p>
            <a:r>
              <a:rPr lang="ru-RU" dirty="0"/>
              <a:t>Показывает полный путь аренды: заявка → проверка доступности яхты → проверка клиента → подбор маршрута → заказ экипажа →</a:t>
            </a:r>
            <a:br>
              <a:rPr lang="ru-RU" dirty="0"/>
            </a:br>
            <a:r>
              <a:rPr lang="ru-RU" dirty="0"/>
              <a:t>укомплектовать яхту →  расчёт стоимости → договор → передача яхты → возврат яхты.</a:t>
            </a:r>
          </a:p>
        </p:txBody>
      </p:sp>
    </p:spTree>
    <p:extLst>
      <p:ext uri="{BB962C8B-B14F-4D97-AF65-F5344CB8AC3E}">
        <p14:creationId xmlns:p14="http://schemas.microsoft.com/office/powerpoint/2010/main" val="139116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1. Клиент подаёт заявку на прокат.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2. Система проверяет доступность яхты.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3. Проверяются / регистрируются данные клиента.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4. Подбирается маршрут и экипаж.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5. Рассчитывается стоимость и оформляется договор.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6. Яхта передаётся в аренду; фиксируются комплектация и доступность.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sz="1800" dirty="0"/>
              <a:t>7. После возврата оформляется акт и яхта снова становится доступной.</a:t>
            </a:r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3735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Основной сценарий проката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735E77-E67F-4115-AA7E-0A0651D23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582" y="1188962"/>
            <a:ext cx="1352739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0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B133B66-F9CA-4343-89AF-15F5069E86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контекстная DFD A-0;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декомпозиция A0;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детализация управления прокатом.</a:t>
            </a:r>
          </a:p>
          <a:p>
            <a:endParaRPr lang="ru-BY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C4B998-77E7-48F3-B6A1-817C1CF887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Построено</a:t>
            </a:r>
            <a:endParaRPr lang="ru-BY" sz="1800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6E1297A-E5CA-4D92-AD1E-B9C3680F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579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Результаты работы</a:t>
            </a:r>
            <a:br>
              <a:rPr lang="ru-RU" dirty="0"/>
            </a:br>
            <a:endParaRPr lang="ru-BY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89D94C-4F6A-40CD-9766-2AB3BDCBD0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внешние сущности и потоки;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процессы и накопители;</a:t>
            </a:r>
          </a:p>
          <a:p>
            <a:pPr>
              <a:spcAft>
                <a:spcPts val="800"/>
              </a:spcAft>
              <a:defRPr sz="1600">
                <a:solidFill>
                  <a:srgbClr val="141414"/>
                </a:solidFill>
                <a:latin typeface="Arial"/>
              </a:defRPr>
            </a:pPr>
            <a:r>
              <a:rPr lang="ru-RU" dirty="0"/>
              <a:t>• события и реакции АИС.</a:t>
            </a:r>
          </a:p>
          <a:p>
            <a:endParaRPr lang="ru-BY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44E66DA-043F-4A48-9597-FB26295549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Определено</a:t>
            </a:r>
            <a:endParaRPr lang="ru-BY" sz="1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B99ABB-377F-45D4-A4B4-FD6F5570D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1182459"/>
            <a:ext cx="1285969" cy="10764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335A34-348C-4F61-B8B1-1D83F0526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150" y="2401659"/>
            <a:ext cx="830171" cy="66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0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638823" y="4113162"/>
            <a:ext cx="24603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Сидорович Юлия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Милованова Алиса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Евдокименко Григорий</a:t>
            </a:r>
            <a:endParaRPr lang="ru-B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5421</TotalTime>
  <Words>488</Words>
  <Application>Microsoft Office PowerPoint</Application>
  <PresentationFormat>Экран (16:9)</PresentationFormat>
  <Paragraphs>70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Лабораторная работа №1 Анализ поведения информационной системы АИС «Бюро проката яхт Сан-Хуана» · вариант 1  </vt:lpstr>
      <vt:lpstr>Цель и постановка задачи </vt:lpstr>
      <vt:lpstr>Предметная область</vt:lpstr>
      <vt:lpstr>Метод моделирования — DFD</vt:lpstr>
      <vt:lpstr>DFD уровня A-0 </vt:lpstr>
      <vt:lpstr>Список событий Основные события, на которые реагирует АИС </vt:lpstr>
      <vt:lpstr>DFD уровня A0</vt:lpstr>
      <vt:lpstr>Структура уровня A0</vt:lpstr>
      <vt:lpstr>Детализация процесса «Управление прокатом»</vt:lpstr>
      <vt:lpstr>Основной сценарий проката</vt:lpstr>
      <vt:lpstr>Результаты работы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ASUS</cp:lastModifiedBy>
  <cp:revision>107</cp:revision>
  <dcterms:created xsi:type="dcterms:W3CDTF">2014-06-27T12:30:22Z</dcterms:created>
  <dcterms:modified xsi:type="dcterms:W3CDTF">2026-10-08T11:20:37Z</dcterms:modified>
</cp:coreProperties>
</file>